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uer Bodoni Bold" charset="1" panose="02070803080706020303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Garet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44645" y="6103792"/>
            <a:ext cx="21328129" cy="1837988"/>
            <a:chOff x="0" y="0"/>
            <a:chExt cx="5621550" cy="484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21550" cy="484447"/>
            </a:xfrm>
            <a:custGeom>
              <a:avLst/>
              <a:gdLst/>
              <a:ahLst/>
              <a:cxnLst/>
              <a:rect r="r" b="b" t="t" l="l"/>
              <a:pathLst>
                <a:path h="484447" w="5621550">
                  <a:moveTo>
                    <a:pt x="5445" y="0"/>
                  </a:moveTo>
                  <a:lnTo>
                    <a:pt x="5616105" y="0"/>
                  </a:lnTo>
                  <a:cubicBezTo>
                    <a:pt x="5619112" y="0"/>
                    <a:pt x="5621550" y="2438"/>
                    <a:pt x="5621550" y="5445"/>
                  </a:cubicBezTo>
                  <a:lnTo>
                    <a:pt x="5621550" y="479002"/>
                  </a:lnTo>
                  <a:cubicBezTo>
                    <a:pt x="5621550" y="480446"/>
                    <a:pt x="5620976" y="481831"/>
                    <a:pt x="5619955" y="482852"/>
                  </a:cubicBezTo>
                  <a:cubicBezTo>
                    <a:pt x="5618934" y="483873"/>
                    <a:pt x="5617549" y="484447"/>
                    <a:pt x="5616105" y="484447"/>
                  </a:cubicBezTo>
                  <a:lnTo>
                    <a:pt x="5445" y="484447"/>
                  </a:lnTo>
                  <a:cubicBezTo>
                    <a:pt x="4001" y="484447"/>
                    <a:pt x="2616" y="483873"/>
                    <a:pt x="1595" y="482852"/>
                  </a:cubicBezTo>
                  <a:cubicBezTo>
                    <a:pt x="574" y="481831"/>
                    <a:pt x="0" y="480446"/>
                    <a:pt x="0" y="479002"/>
                  </a:cubicBezTo>
                  <a:lnTo>
                    <a:pt x="0" y="5445"/>
                  </a:lnTo>
                  <a:cubicBezTo>
                    <a:pt x="0" y="4001"/>
                    <a:pt x="574" y="2616"/>
                    <a:pt x="1595" y="1595"/>
                  </a:cubicBezTo>
                  <a:cubicBezTo>
                    <a:pt x="2616" y="574"/>
                    <a:pt x="4001" y="0"/>
                    <a:pt x="5445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621550" cy="541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1732">
            <a:off x="9911386" y="1837451"/>
            <a:ext cx="7807180" cy="7557849"/>
          </a:xfrm>
          <a:custGeom>
            <a:avLst/>
            <a:gdLst/>
            <a:ahLst/>
            <a:cxnLst/>
            <a:rect r="r" b="b" t="t" l="l"/>
            <a:pathLst>
              <a:path h="7557849" w="7807180">
                <a:moveTo>
                  <a:pt x="0" y="0"/>
                </a:moveTo>
                <a:lnTo>
                  <a:pt x="7807179" y="0"/>
                </a:lnTo>
                <a:lnTo>
                  <a:pt x="7807179" y="7557849"/>
                </a:lnTo>
                <a:lnTo>
                  <a:pt x="0" y="7557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591653" y="2643298"/>
            <a:ext cx="6475471" cy="6694157"/>
            <a:chOff x="0" y="0"/>
            <a:chExt cx="812800" cy="840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40249"/>
            </a:xfrm>
            <a:custGeom>
              <a:avLst/>
              <a:gdLst/>
              <a:ahLst/>
              <a:cxnLst/>
              <a:rect r="r" b="b" t="t" l="l"/>
              <a:pathLst>
                <a:path h="840249" w="812800">
                  <a:moveTo>
                    <a:pt x="406400" y="0"/>
                  </a:moveTo>
                  <a:cubicBezTo>
                    <a:pt x="181951" y="0"/>
                    <a:pt x="0" y="188096"/>
                    <a:pt x="0" y="420125"/>
                  </a:cubicBezTo>
                  <a:cubicBezTo>
                    <a:pt x="0" y="652153"/>
                    <a:pt x="181951" y="840249"/>
                    <a:pt x="406400" y="840249"/>
                  </a:cubicBezTo>
                  <a:cubicBezTo>
                    <a:pt x="630849" y="840249"/>
                    <a:pt x="812800" y="652153"/>
                    <a:pt x="812800" y="420125"/>
                  </a:cubicBezTo>
                  <a:cubicBezTo>
                    <a:pt x="812800" y="188096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269" r="-108441" b="-6269"/>
              </a:stretch>
            </a:blipFill>
            <a:ln w="142875" cap="sq">
              <a:solidFill>
                <a:srgbClr val="540C0C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44473" y="2643298"/>
            <a:ext cx="1047180" cy="1047180"/>
          </a:xfrm>
          <a:custGeom>
            <a:avLst/>
            <a:gdLst/>
            <a:ahLst/>
            <a:cxnLst/>
            <a:rect r="r" b="b" t="t" l="l"/>
            <a:pathLst>
              <a:path h="1047180" w="1047180">
                <a:moveTo>
                  <a:pt x="0" y="0"/>
                </a:moveTo>
                <a:lnTo>
                  <a:pt x="1047180" y="0"/>
                </a:lnTo>
                <a:lnTo>
                  <a:pt x="1047180" y="1047180"/>
                </a:lnTo>
                <a:lnTo>
                  <a:pt x="0" y="10471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63869" y="1406487"/>
            <a:ext cx="3947325" cy="3947325"/>
          </a:xfrm>
          <a:custGeom>
            <a:avLst/>
            <a:gdLst/>
            <a:ahLst/>
            <a:cxnLst/>
            <a:rect r="r" b="b" t="t" l="l"/>
            <a:pathLst>
              <a:path h="3947325" w="3947325">
                <a:moveTo>
                  <a:pt x="0" y="0"/>
                </a:moveTo>
                <a:lnTo>
                  <a:pt x="3947325" y="0"/>
                </a:lnTo>
                <a:lnTo>
                  <a:pt x="3947325" y="3947325"/>
                </a:lnTo>
                <a:lnTo>
                  <a:pt x="0" y="39473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3364" y="1151048"/>
            <a:ext cx="7528736" cy="4903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10800" b="true">
                <a:solidFill>
                  <a:srgbClr val="FAFAFA"/>
                </a:solidFill>
                <a:latin typeface="Bauer Bodoni Bold"/>
                <a:ea typeface="Bauer Bodoni Bold"/>
                <a:cs typeface="Bauer Bodoni Bold"/>
                <a:sym typeface="Bauer Bodoni Bold"/>
              </a:rPr>
              <a:t>“THE</a:t>
            </a:r>
          </a:p>
          <a:p>
            <a:pPr algn="l">
              <a:lnSpc>
                <a:spcPts val="9072"/>
              </a:lnSpc>
            </a:pPr>
            <a:r>
              <a:rPr lang="en-US" sz="10800" b="true">
                <a:solidFill>
                  <a:srgbClr val="FAFAFA"/>
                </a:solidFill>
                <a:latin typeface="Bauer Bodoni Bold"/>
                <a:ea typeface="Bauer Bodoni Bold"/>
                <a:cs typeface="Bauer Bodoni Bold"/>
                <a:sym typeface="Bauer Bodoni Bold"/>
              </a:rPr>
              <a:t>INFINITE </a:t>
            </a:r>
          </a:p>
          <a:p>
            <a:pPr algn="l">
              <a:lnSpc>
                <a:spcPts val="9072"/>
              </a:lnSpc>
            </a:pPr>
            <a:r>
              <a:rPr lang="en-US" sz="10800" b="true">
                <a:solidFill>
                  <a:srgbClr val="FAFAFA"/>
                </a:solidFill>
                <a:latin typeface="Bauer Bodoni Bold"/>
                <a:ea typeface="Bauer Bodoni Bold"/>
                <a:cs typeface="Bauer Bodoni Bold"/>
                <a:sym typeface="Bauer Bodoni Bold"/>
              </a:rPr>
              <a:t>FITTING</a:t>
            </a:r>
          </a:p>
          <a:p>
            <a:pPr algn="l">
              <a:lnSpc>
                <a:spcPts val="9072"/>
              </a:lnSpc>
            </a:pPr>
            <a:r>
              <a:rPr lang="en-US" sz="10800" b="true">
                <a:solidFill>
                  <a:srgbClr val="FAFAFA"/>
                </a:solidFill>
                <a:latin typeface="Bauer Bodoni Bold"/>
                <a:ea typeface="Bauer Bodoni Bold"/>
                <a:cs typeface="Bauer Bodoni Bold"/>
                <a:sym typeface="Bauer Bodoni Bold"/>
              </a:rPr>
              <a:t>ROOM”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3364" y="6574369"/>
            <a:ext cx="7303016" cy="84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7"/>
              </a:lnSpc>
            </a:pPr>
            <a:r>
              <a:rPr lang="en-US" sz="319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 Strategic Audit of Reverse Logistic and Profit Recovery in E-commerce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3364" y="8417909"/>
            <a:ext cx="2900875" cy="43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3058" b="true">
                <a:solidFill>
                  <a:srgbClr val="DDDCD6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3364" y="8921800"/>
            <a:ext cx="3550805" cy="90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305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Priyanka Kasera,</a:t>
            </a:r>
          </a:p>
          <a:p>
            <a:pPr algn="l">
              <a:lnSpc>
                <a:spcPts val="3486"/>
              </a:lnSpc>
            </a:pPr>
            <a:r>
              <a:rPr lang="en-US" sz="305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MBA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55505" y="8392203"/>
            <a:ext cx="2900875" cy="43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3058" b="true">
                <a:solidFill>
                  <a:srgbClr val="DDDCD6"/>
                </a:solidFill>
                <a:latin typeface="Poppins Bold"/>
                <a:ea typeface="Poppins Bold"/>
                <a:cs typeface="Poppins Bold"/>
                <a:sym typeface="Poppins Bold"/>
              </a:rPr>
              <a:t>Date: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55505" y="8934194"/>
            <a:ext cx="3126595" cy="43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3058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March 26,2026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7002" y="-723888"/>
            <a:ext cx="2594017" cy="11734776"/>
            <a:chOff x="0" y="0"/>
            <a:chExt cx="683716" cy="30929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3717" cy="3092987"/>
            </a:xfrm>
            <a:custGeom>
              <a:avLst/>
              <a:gdLst/>
              <a:ahLst/>
              <a:cxnLst/>
              <a:rect r="r" b="b" t="t" l="l"/>
              <a:pathLst>
                <a:path h="3092987" w="683717">
                  <a:moveTo>
                    <a:pt x="44768" y="0"/>
                  </a:moveTo>
                  <a:lnTo>
                    <a:pt x="638949" y="0"/>
                  </a:lnTo>
                  <a:cubicBezTo>
                    <a:pt x="650822" y="0"/>
                    <a:pt x="662209" y="4717"/>
                    <a:pt x="670604" y="13112"/>
                  </a:cubicBezTo>
                  <a:cubicBezTo>
                    <a:pt x="679000" y="21508"/>
                    <a:pt x="683717" y="32895"/>
                    <a:pt x="683717" y="44768"/>
                  </a:cubicBezTo>
                  <a:lnTo>
                    <a:pt x="683717" y="3048219"/>
                  </a:lnTo>
                  <a:cubicBezTo>
                    <a:pt x="683717" y="3072944"/>
                    <a:pt x="663673" y="3092987"/>
                    <a:pt x="638949" y="3092987"/>
                  </a:cubicBezTo>
                  <a:lnTo>
                    <a:pt x="44768" y="3092987"/>
                  </a:lnTo>
                  <a:cubicBezTo>
                    <a:pt x="32895" y="3092987"/>
                    <a:pt x="21508" y="3088271"/>
                    <a:pt x="13112" y="3079875"/>
                  </a:cubicBezTo>
                  <a:cubicBezTo>
                    <a:pt x="4717" y="3071479"/>
                    <a:pt x="0" y="3060092"/>
                    <a:pt x="0" y="3048219"/>
                  </a:cubicBezTo>
                  <a:lnTo>
                    <a:pt x="0" y="44768"/>
                  </a:lnTo>
                  <a:cubicBezTo>
                    <a:pt x="0" y="32895"/>
                    <a:pt x="4717" y="21508"/>
                    <a:pt x="13112" y="13112"/>
                  </a:cubicBezTo>
                  <a:cubicBezTo>
                    <a:pt x="21508" y="4717"/>
                    <a:pt x="32895" y="0"/>
                    <a:pt x="44768" y="0"/>
                  </a:cubicBezTo>
                  <a:close/>
                </a:path>
              </a:pathLst>
            </a:custGeom>
            <a:solidFill>
              <a:srgbClr val="540C0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83716" cy="3150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05999" y="1660886"/>
            <a:ext cx="7195009" cy="6965228"/>
          </a:xfrm>
          <a:custGeom>
            <a:avLst/>
            <a:gdLst/>
            <a:ahLst/>
            <a:cxnLst/>
            <a:rect r="r" b="b" t="t" l="l"/>
            <a:pathLst>
              <a:path h="6965228" w="7195009">
                <a:moveTo>
                  <a:pt x="0" y="0"/>
                </a:moveTo>
                <a:lnTo>
                  <a:pt x="7195009" y="0"/>
                </a:lnTo>
                <a:lnTo>
                  <a:pt x="7195009" y="6965228"/>
                </a:lnTo>
                <a:lnTo>
                  <a:pt x="0" y="6965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306566" y="2520389"/>
            <a:ext cx="5793876" cy="6105725"/>
            <a:chOff x="0" y="0"/>
            <a:chExt cx="812800" cy="856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56548"/>
            </a:xfrm>
            <a:custGeom>
              <a:avLst/>
              <a:gdLst/>
              <a:ahLst/>
              <a:cxnLst/>
              <a:rect r="r" b="b" t="t" l="l"/>
              <a:pathLst>
                <a:path h="856548" w="812800">
                  <a:moveTo>
                    <a:pt x="406400" y="0"/>
                  </a:moveTo>
                  <a:cubicBezTo>
                    <a:pt x="181951" y="0"/>
                    <a:pt x="0" y="191745"/>
                    <a:pt x="0" y="428274"/>
                  </a:cubicBezTo>
                  <a:cubicBezTo>
                    <a:pt x="0" y="664803"/>
                    <a:pt x="181951" y="856548"/>
                    <a:pt x="406400" y="856548"/>
                  </a:cubicBezTo>
                  <a:cubicBezTo>
                    <a:pt x="630849" y="856548"/>
                    <a:pt x="812800" y="664803"/>
                    <a:pt x="812800" y="428274"/>
                  </a:cubicBezTo>
                  <a:cubicBezTo>
                    <a:pt x="812800" y="191745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9086" t="0" r="-29086" b="0"/>
              </a:stretch>
            </a:blipFill>
            <a:ln w="152400" cap="sq">
              <a:solidFill>
                <a:srgbClr val="FAFAF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713439" y="1722097"/>
            <a:ext cx="9640437" cy="219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5"/>
              </a:lnSpc>
            </a:pPr>
            <a:r>
              <a:rPr lang="en-US" sz="980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980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8584" y="4248136"/>
            <a:ext cx="8158649" cy="437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</a:p>
          <a:p>
            <a:pPr algn="l">
              <a:lnSpc>
                <a:spcPts val="2625"/>
              </a:lnSpc>
            </a:pPr>
          </a:p>
          <a:p>
            <a:pPr algn="l" marL="566856" indent="-283428" lvl="1">
              <a:lnSpc>
                <a:spcPts val="2625"/>
              </a:lnSpc>
              <a:buFont typeface="Arial"/>
              <a:buChar char="•"/>
            </a:pPr>
            <a:r>
              <a:rPr lang="en-US" sz="2625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Rise of “Infinite Fitting Room” Behaviour</a:t>
            </a:r>
          </a:p>
          <a:p>
            <a:pPr algn="l">
              <a:lnSpc>
                <a:spcPts val="2625"/>
              </a:lnSpc>
            </a:pPr>
          </a:p>
          <a:p>
            <a:pPr algn="l" marL="566856" indent="-283428" lvl="1">
              <a:lnSpc>
                <a:spcPts val="2625"/>
              </a:lnSpc>
              <a:buFont typeface="Arial"/>
              <a:buChar char="•"/>
            </a:pPr>
            <a:r>
              <a:rPr lang="en-US" sz="2625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Returns = Hidden Costs(reverse logistics, quality inspections &amp; restocking labor)</a:t>
            </a:r>
          </a:p>
          <a:p>
            <a:pPr algn="l">
              <a:lnSpc>
                <a:spcPts val="2625"/>
              </a:lnSpc>
            </a:pPr>
          </a:p>
          <a:p>
            <a:pPr algn="l" marL="566856" indent="-283428" lvl="1">
              <a:lnSpc>
                <a:spcPts val="2625"/>
              </a:lnSpc>
              <a:buFont typeface="Arial"/>
              <a:buChar char="•"/>
            </a:pPr>
            <a:r>
              <a:rPr lang="en-US" sz="2625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Lack of Cost Visibility</a:t>
            </a:r>
          </a:p>
          <a:p>
            <a:pPr algn="l">
              <a:lnSpc>
                <a:spcPts val="2625"/>
              </a:lnSpc>
            </a:pPr>
          </a:p>
          <a:p>
            <a:pPr algn="l" marL="566856" indent="-283428" lvl="1">
              <a:lnSpc>
                <a:spcPts val="2625"/>
              </a:lnSpc>
              <a:buFont typeface="Arial"/>
              <a:buChar char="•"/>
            </a:pPr>
            <a:r>
              <a:rPr lang="en-US" sz="2625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Silent Revenue Leakage</a:t>
            </a:r>
          </a:p>
          <a:p>
            <a:pPr algn="l">
              <a:lnSpc>
                <a:spcPts val="2625"/>
              </a:lnSpc>
            </a:pPr>
          </a:p>
          <a:p>
            <a:pPr algn="l" marL="566856" indent="-283428" lvl="1">
              <a:lnSpc>
                <a:spcPts val="2625"/>
              </a:lnSpc>
              <a:buFont typeface="Arial"/>
              <a:buChar char="•"/>
            </a:pPr>
            <a:r>
              <a:rPr lang="en-US" sz="2625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Negative Net Margins</a:t>
            </a:r>
          </a:p>
          <a:p>
            <a:pPr algn="l">
              <a:lnSpc>
                <a:spcPts val="262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444046" y="3978492"/>
            <a:ext cx="2330017" cy="2330017"/>
          </a:xfrm>
          <a:custGeom>
            <a:avLst/>
            <a:gdLst/>
            <a:ahLst/>
            <a:cxnLst/>
            <a:rect r="r" b="b" t="t" l="l"/>
            <a:pathLst>
              <a:path h="2330017" w="2330017">
                <a:moveTo>
                  <a:pt x="0" y="0"/>
                </a:moveTo>
                <a:lnTo>
                  <a:pt x="2330017" y="0"/>
                </a:lnTo>
                <a:lnTo>
                  <a:pt x="2330017" y="2330016"/>
                </a:lnTo>
                <a:lnTo>
                  <a:pt x="0" y="2330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66252" y="8626114"/>
            <a:ext cx="759849" cy="759849"/>
          </a:xfrm>
          <a:custGeom>
            <a:avLst/>
            <a:gdLst/>
            <a:ahLst/>
            <a:cxnLst/>
            <a:rect r="r" b="b" t="t" l="l"/>
            <a:pathLst>
              <a:path h="759849" w="759849">
                <a:moveTo>
                  <a:pt x="0" y="0"/>
                </a:moveTo>
                <a:lnTo>
                  <a:pt x="759849" y="0"/>
                </a:lnTo>
                <a:lnTo>
                  <a:pt x="759849" y="759849"/>
                </a:lnTo>
                <a:lnTo>
                  <a:pt x="0" y="7598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8157" y="-310201"/>
            <a:ext cx="4750287" cy="10597201"/>
            <a:chOff x="0" y="0"/>
            <a:chExt cx="1310646" cy="2923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0646" cy="2923860"/>
            </a:xfrm>
            <a:custGeom>
              <a:avLst/>
              <a:gdLst/>
              <a:ahLst/>
              <a:cxnLst/>
              <a:rect r="r" b="b" t="t" l="l"/>
              <a:pathLst>
                <a:path h="2923860" w="1310646">
                  <a:moveTo>
                    <a:pt x="84749" y="0"/>
                  </a:moveTo>
                  <a:lnTo>
                    <a:pt x="1225897" y="0"/>
                  </a:lnTo>
                  <a:cubicBezTo>
                    <a:pt x="1272703" y="0"/>
                    <a:pt x="1310646" y="37943"/>
                    <a:pt x="1310646" y="84749"/>
                  </a:cubicBezTo>
                  <a:lnTo>
                    <a:pt x="1310646" y="2839112"/>
                  </a:lnTo>
                  <a:cubicBezTo>
                    <a:pt x="1310646" y="2861589"/>
                    <a:pt x="1301717" y="2883145"/>
                    <a:pt x="1285824" y="2899038"/>
                  </a:cubicBezTo>
                  <a:cubicBezTo>
                    <a:pt x="1269930" y="2914931"/>
                    <a:pt x="1248374" y="2923860"/>
                    <a:pt x="1225897" y="2923860"/>
                  </a:cubicBezTo>
                  <a:lnTo>
                    <a:pt x="84749" y="2923860"/>
                  </a:lnTo>
                  <a:cubicBezTo>
                    <a:pt x="37943" y="2923860"/>
                    <a:pt x="0" y="2885917"/>
                    <a:pt x="0" y="2839112"/>
                  </a:cubicBezTo>
                  <a:lnTo>
                    <a:pt x="0" y="84749"/>
                  </a:lnTo>
                  <a:cubicBezTo>
                    <a:pt x="0" y="62272"/>
                    <a:pt x="8929" y="40716"/>
                    <a:pt x="24822" y="24822"/>
                  </a:cubicBezTo>
                  <a:cubicBezTo>
                    <a:pt x="40716" y="8929"/>
                    <a:pt x="62272" y="0"/>
                    <a:pt x="84749" y="0"/>
                  </a:cubicBezTo>
                  <a:close/>
                </a:path>
              </a:pathLst>
            </a:custGeom>
            <a:solidFill>
              <a:srgbClr val="540C0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10646" cy="2981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9490" y="195383"/>
            <a:ext cx="7695725" cy="7449953"/>
          </a:xfrm>
          <a:custGeom>
            <a:avLst/>
            <a:gdLst/>
            <a:ahLst/>
            <a:cxnLst/>
            <a:rect r="r" b="b" t="t" l="l"/>
            <a:pathLst>
              <a:path h="7449953" w="7695725">
                <a:moveTo>
                  <a:pt x="0" y="0"/>
                </a:moveTo>
                <a:lnTo>
                  <a:pt x="7695725" y="0"/>
                </a:lnTo>
                <a:lnTo>
                  <a:pt x="7695725" y="7449954"/>
                </a:lnTo>
                <a:lnTo>
                  <a:pt x="0" y="744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95452" y="1116870"/>
            <a:ext cx="6243800" cy="6454662"/>
            <a:chOff x="0" y="0"/>
            <a:chExt cx="812800" cy="840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40249"/>
            </a:xfrm>
            <a:custGeom>
              <a:avLst/>
              <a:gdLst/>
              <a:ahLst/>
              <a:cxnLst/>
              <a:rect r="r" b="b" t="t" l="l"/>
              <a:pathLst>
                <a:path h="840249" w="812800">
                  <a:moveTo>
                    <a:pt x="406400" y="0"/>
                  </a:moveTo>
                  <a:cubicBezTo>
                    <a:pt x="181951" y="0"/>
                    <a:pt x="0" y="188096"/>
                    <a:pt x="0" y="420125"/>
                  </a:cubicBezTo>
                  <a:cubicBezTo>
                    <a:pt x="0" y="652153"/>
                    <a:pt x="181951" y="840249"/>
                    <a:pt x="406400" y="840249"/>
                  </a:cubicBezTo>
                  <a:cubicBezTo>
                    <a:pt x="630849" y="840249"/>
                    <a:pt x="812800" y="652153"/>
                    <a:pt x="812800" y="420125"/>
                  </a:cubicBezTo>
                  <a:cubicBezTo>
                    <a:pt x="812800" y="188096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1890" t="0" r="-41890" b="0"/>
              </a:stretch>
            </a:blipFill>
            <a:ln w="142875" cap="sq">
              <a:solidFill>
                <a:srgbClr val="FAFAF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140869" y="2955988"/>
            <a:ext cx="7118431" cy="110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2"/>
              </a:lnSpc>
            </a:pPr>
            <a:r>
              <a:rPr lang="en-US" sz="93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OBJECTIVE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140869" y="4640460"/>
            <a:ext cx="415053" cy="415053"/>
            <a:chOff x="0" y="0"/>
            <a:chExt cx="4064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40869" y="5361474"/>
            <a:ext cx="415053" cy="415053"/>
            <a:chOff x="0" y="0"/>
            <a:chExt cx="4064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40869" y="6203513"/>
            <a:ext cx="415053" cy="415053"/>
            <a:chOff x="0" y="0"/>
            <a:chExt cx="4064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161041" y="-1973164"/>
            <a:ext cx="5732071" cy="5732071"/>
          </a:xfrm>
          <a:custGeom>
            <a:avLst/>
            <a:gdLst/>
            <a:ahLst/>
            <a:cxnLst/>
            <a:rect r="r" b="b" t="t" l="l"/>
            <a:pathLst>
              <a:path h="5732071" w="5732071">
                <a:moveTo>
                  <a:pt x="0" y="0"/>
                </a:moveTo>
                <a:lnTo>
                  <a:pt x="5732071" y="0"/>
                </a:lnTo>
                <a:lnTo>
                  <a:pt x="5732071" y="5732071"/>
                </a:lnTo>
                <a:lnTo>
                  <a:pt x="0" y="573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65215" y="8550212"/>
            <a:ext cx="5065211" cy="5065211"/>
          </a:xfrm>
          <a:custGeom>
            <a:avLst/>
            <a:gdLst/>
            <a:ahLst/>
            <a:cxnLst/>
            <a:rect r="r" b="b" t="t" l="l"/>
            <a:pathLst>
              <a:path h="5065211" w="5065211">
                <a:moveTo>
                  <a:pt x="0" y="0"/>
                </a:moveTo>
                <a:lnTo>
                  <a:pt x="5065211" y="0"/>
                </a:lnTo>
                <a:lnTo>
                  <a:pt x="5065211" y="5065211"/>
                </a:lnTo>
                <a:lnTo>
                  <a:pt x="0" y="5065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174656" y="7162626"/>
            <a:ext cx="415053" cy="415053"/>
            <a:chOff x="0" y="0"/>
            <a:chExt cx="406400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74656" y="7883639"/>
            <a:ext cx="415053" cy="415053"/>
            <a:chOff x="0" y="0"/>
            <a:chExt cx="4064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28716" y="4638755"/>
            <a:ext cx="7284923" cy="45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Organize Data → Actionable Plan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28716" y="5359768"/>
            <a:ext cx="6655916" cy="45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Identify Drivers of the Returns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97820" y="6083032"/>
            <a:ext cx="7060068" cy="86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Uncover Hidden Costs and its Impact on Profitability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62503" y="7160920"/>
            <a:ext cx="7284923" cy="45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Reduce Avoidable Returns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62503" y="7881934"/>
            <a:ext cx="5319293" cy="45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Protect Profit Margins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0416" y="1915327"/>
            <a:ext cx="9881641" cy="2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9800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WHO CAN USE THIS MODEL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345197">
            <a:off x="11750418" y="1285893"/>
            <a:ext cx="6591644" cy="6381133"/>
          </a:xfrm>
          <a:custGeom>
            <a:avLst/>
            <a:gdLst/>
            <a:ahLst/>
            <a:cxnLst/>
            <a:rect r="r" b="b" t="t" l="l"/>
            <a:pathLst>
              <a:path h="6381133" w="6591644">
                <a:moveTo>
                  <a:pt x="0" y="0"/>
                </a:moveTo>
                <a:lnTo>
                  <a:pt x="6591644" y="0"/>
                </a:lnTo>
                <a:lnTo>
                  <a:pt x="6591644" y="6381132"/>
                </a:lnTo>
                <a:lnTo>
                  <a:pt x="0" y="6381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98032" y="4472754"/>
            <a:ext cx="16236360" cy="4699019"/>
            <a:chOff x="0" y="0"/>
            <a:chExt cx="4479754" cy="1296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79754" cy="1296500"/>
            </a:xfrm>
            <a:custGeom>
              <a:avLst/>
              <a:gdLst/>
              <a:ahLst/>
              <a:cxnLst/>
              <a:rect r="r" b="b" t="t" l="l"/>
              <a:pathLst>
                <a:path h="1296500" w="4479754">
                  <a:moveTo>
                    <a:pt x="24795" y="0"/>
                  </a:moveTo>
                  <a:lnTo>
                    <a:pt x="4454959" y="0"/>
                  </a:lnTo>
                  <a:cubicBezTo>
                    <a:pt x="4461535" y="0"/>
                    <a:pt x="4467842" y="2612"/>
                    <a:pt x="4472491" y="7262"/>
                  </a:cubicBezTo>
                  <a:cubicBezTo>
                    <a:pt x="4477141" y="11912"/>
                    <a:pt x="4479754" y="18219"/>
                    <a:pt x="4479754" y="24795"/>
                  </a:cubicBezTo>
                  <a:lnTo>
                    <a:pt x="4479754" y="1271706"/>
                  </a:lnTo>
                  <a:cubicBezTo>
                    <a:pt x="4479754" y="1278281"/>
                    <a:pt x="4477141" y="1284588"/>
                    <a:pt x="4472491" y="1289238"/>
                  </a:cubicBezTo>
                  <a:cubicBezTo>
                    <a:pt x="4467842" y="1293888"/>
                    <a:pt x="4461535" y="1296500"/>
                    <a:pt x="4454959" y="1296500"/>
                  </a:cubicBezTo>
                  <a:lnTo>
                    <a:pt x="24795" y="1296500"/>
                  </a:lnTo>
                  <a:cubicBezTo>
                    <a:pt x="18219" y="1296500"/>
                    <a:pt x="11912" y="1293888"/>
                    <a:pt x="7262" y="1289238"/>
                  </a:cubicBezTo>
                  <a:cubicBezTo>
                    <a:pt x="2612" y="1284588"/>
                    <a:pt x="0" y="1278281"/>
                    <a:pt x="0" y="1271706"/>
                  </a:cubicBezTo>
                  <a:lnTo>
                    <a:pt x="0" y="24795"/>
                  </a:lnTo>
                  <a:cubicBezTo>
                    <a:pt x="0" y="18219"/>
                    <a:pt x="2612" y="11912"/>
                    <a:pt x="7262" y="7262"/>
                  </a:cubicBezTo>
                  <a:cubicBezTo>
                    <a:pt x="11912" y="2612"/>
                    <a:pt x="18219" y="0"/>
                    <a:pt x="24795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479754" cy="135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857838" y="7056677"/>
            <a:ext cx="12844724" cy="0"/>
          </a:xfrm>
          <a:prstGeom prst="line">
            <a:avLst/>
          </a:prstGeom>
          <a:ln cap="flat" w="19050">
            <a:solidFill>
              <a:srgbClr val="3939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856992" y="5606836"/>
            <a:ext cx="388468" cy="388468"/>
            <a:chOff x="0" y="0"/>
            <a:chExt cx="4064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78836" y="5212755"/>
            <a:ext cx="2657993" cy="12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0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Brand &amp; category managers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901293" y="5606836"/>
            <a:ext cx="388468" cy="388468"/>
            <a:chOff x="0" y="0"/>
            <a:chExt cx="40640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594561" y="5405455"/>
            <a:ext cx="3344850" cy="8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0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Logistic &amp; operations leads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588447" y="5606836"/>
            <a:ext cx="388468" cy="388468"/>
            <a:chOff x="0" y="0"/>
            <a:chExt cx="4064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81715" y="5405455"/>
            <a:ext cx="3625271" cy="8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0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Financial controllers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856992" y="7871671"/>
            <a:ext cx="388468" cy="388468"/>
            <a:chOff x="0" y="0"/>
            <a:chExt cx="406400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78836" y="7670335"/>
            <a:ext cx="2955940" cy="8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0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E-commerce strategist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904915" y="7871671"/>
            <a:ext cx="388468" cy="388468"/>
            <a:chOff x="0" y="0"/>
            <a:chExt cx="406400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13611" y="7670245"/>
            <a:ext cx="3344850" cy="8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0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Companies &amp; startups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103728" y="1028700"/>
            <a:ext cx="959555" cy="959555"/>
          </a:xfrm>
          <a:custGeom>
            <a:avLst/>
            <a:gdLst/>
            <a:ahLst/>
            <a:cxnLst/>
            <a:rect r="r" b="b" t="t" l="l"/>
            <a:pathLst>
              <a:path h="959555" w="959555">
                <a:moveTo>
                  <a:pt x="0" y="0"/>
                </a:moveTo>
                <a:lnTo>
                  <a:pt x="959556" y="0"/>
                </a:lnTo>
                <a:lnTo>
                  <a:pt x="959556" y="959555"/>
                </a:lnTo>
                <a:lnTo>
                  <a:pt x="0" y="95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299745" y="8490140"/>
            <a:ext cx="959555" cy="959555"/>
          </a:xfrm>
          <a:custGeom>
            <a:avLst/>
            <a:gdLst/>
            <a:ahLst/>
            <a:cxnLst/>
            <a:rect r="r" b="b" t="t" l="l"/>
            <a:pathLst>
              <a:path h="959555" w="959555">
                <a:moveTo>
                  <a:pt x="0" y="0"/>
                </a:moveTo>
                <a:lnTo>
                  <a:pt x="959555" y="0"/>
                </a:lnTo>
                <a:lnTo>
                  <a:pt x="959555" y="959555"/>
                </a:lnTo>
                <a:lnTo>
                  <a:pt x="0" y="95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4807" y="5719442"/>
            <a:ext cx="3638273" cy="2927049"/>
            <a:chOff x="0" y="0"/>
            <a:chExt cx="1003831" cy="8075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3831" cy="807598"/>
            </a:xfrm>
            <a:custGeom>
              <a:avLst/>
              <a:gdLst/>
              <a:ahLst/>
              <a:cxnLst/>
              <a:rect r="r" b="b" t="t" l="l"/>
              <a:pathLst>
                <a:path h="807598" w="1003831">
                  <a:moveTo>
                    <a:pt x="31919" y="0"/>
                  </a:moveTo>
                  <a:lnTo>
                    <a:pt x="971913" y="0"/>
                  </a:lnTo>
                  <a:cubicBezTo>
                    <a:pt x="980378" y="0"/>
                    <a:pt x="988497" y="3363"/>
                    <a:pt x="994483" y="9349"/>
                  </a:cubicBezTo>
                  <a:cubicBezTo>
                    <a:pt x="1000468" y="15335"/>
                    <a:pt x="1003831" y="23453"/>
                    <a:pt x="1003831" y="31919"/>
                  </a:cubicBezTo>
                  <a:lnTo>
                    <a:pt x="1003831" y="775680"/>
                  </a:lnTo>
                  <a:cubicBezTo>
                    <a:pt x="1003831" y="793308"/>
                    <a:pt x="989541" y="807598"/>
                    <a:pt x="971913" y="807598"/>
                  </a:cubicBezTo>
                  <a:lnTo>
                    <a:pt x="31919" y="807598"/>
                  </a:lnTo>
                  <a:cubicBezTo>
                    <a:pt x="23453" y="807598"/>
                    <a:pt x="15335" y="804236"/>
                    <a:pt x="9349" y="798250"/>
                  </a:cubicBezTo>
                  <a:cubicBezTo>
                    <a:pt x="3363" y="792264"/>
                    <a:pt x="0" y="784145"/>
                    <a:pt x="0" y="775680"/>
                  </a:cubicBezTo>
                  <a:lnTo>
                    <a:pt x="0" y="31919"/>
                  </a:lnTo>
                  <a:cubicBezTo>
                    <a:pt x="0" y="23453"/>
                    <a:pt x="3363" y="15335"/>
                    <a:pt x="9349" y="9349"/>
                  </a:cubicBezTo>
                  <a:cubicBezTo>
                    <a:pt x="15335" y="3363"/>
                    <a:pt x="23453" y="0"/>
                    <a:pt x="3191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03831" cy="86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81511" y="5719442"/>
            <a:ext cx="3638273" cy="2927049"/>
            <a:chOff x="0" y="0"/>
            <a:chExt cx="1003831" cy="807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3831" cy="807598"/>
            </a:xfrm>
            <a:custGeom>
              <a:avLst/>
              <a:gdLst/>
              <a:ahLst/>
              <a:cxnLst/>
              <a:rect r="r" b="b" t="t" l="l"/>
              <a:pathLst>
                <a:path h="807598" w="1003831">
                  <a:moveTo>
                    <a:pt x="31919" y="0"/>
                  </a:moveTo>
                  <a:lnTo>
                    <a:pt x="971913" y="0"/>
                  </a:lnTo>
                  <a:cubicBezTo>
                    <a:pt x="980378" y="0"/>
                    <a:pt x="988497" y="3363"/>
                    <a:pt x="994483" y="9349"/>
                  </a:cubicBezTo>
                  <a:cubicBezTo>
                    <a:pt x="1000468" y="15335"/>
                    <a:pt x="1003831" y="23453"/>
                    <a:pt x="1003831" y="31919"/>
                  </a:cubicBezTo>
                  <a:lnTo>
                    <a:pt x="1003831" y="775680"/>
                  </a:lnTo>
                  <a:cubicBezTo>
                    <a:pt x="1003831" y="793308"/>
                    <a:pt x="989541" y="807598"/>
                    <a:pt x="971913" y="807598"/>
                  </a:cubicBezTo>
                  <a:lnTo>
                    <a:pt x="31919" y="807598"/>
                  </a:lnTo>
                  <a:cubicBezTo>
                    <a:pt x="23453" y="807598"/>
                    <a:pt x="15335" y="804236"/>
                    <a:pt x="9349" y="798250"/>
                  </a:cubicBezTo>
                  <a:cubicBezTo>
                    <a:pt x="3363" y="792264"/>
                    <a:pt x="0" y="784145"/>
                    <a:pt x="0" y="775680"/>
                  </a:cubicBezTo>
                  <a:lnTo>
                    <a:pt x="0" y="31919"/>
                  </a:lnTo>
                  <a:cubicBezTo>
                    <a:pt x="0" y="23453"/>
                    <a:pt x="3363" y="15335"/>
                    <a:pt x="9349" y="9349"/>
                  </a:cubicBezTo>
                  <a:cubicBezTo>
                    <a:pt x="15335" y="3363"/>
                    <a:pt x="23453" y="0"/>
                    <a:pt x="3191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03831" cy="86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68216" y="5719442"/>
            <a:ext cx="3638273" cy="2927049"/>
            <a:chOff x="0" y="0"/>
            <a:chExt cx="1003831" cy="8075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3831" cy="807598"/>
            </a:xfrm>
            <a:custGeom>
              <a:avLst/>
              <a:gdLst/>
              <a:ahLst/>
              <a:cxnLst/>
              <a:rect r="r" b="b" t="t" l="l"/>
              <a:pathLst>
                <a:path h="807598" w="1003831">
                  <a:moveTo>
                    <a:pt x="31919" y="0"/>
                  </a:moveTo>
                  <a:lnTo>
                    <a:pt x="971913" y="0"/>
                  </a:lnTo>
                  <a:cubicBezTo>
                    <a:pt x="980378" y="0"/>
                    <a:pt x="988497" y="3363"/>
                    <a:pt x="994483" y="9349"/>
                  </a:cubicBezTo>
                  <a:cubicBezTo>
                    <a:pt x="1000468" y="15335"/>
                    <a:pt x="1003831" y="23453"/>
                    <a:pt x="1003831" y="31919"/>
                  </a:cubicBezTo>
                  <a:lnTo>
                    <a:pt x="1003831" y="775680"/>
                  </a:lnTo>
                  <a:cubicBezTo>
                    <a:pt x="1003831" y="793308"/>
                    <a:pt x="989541" y="807598"/>
                    <a:pt x="971913" y="807598"/>
                  </a:cubicBezTo>
                  <a:lnTo>
                    <a:pt x="31919" y="807598"/>
                  </a:lnTo>
                  <a:cubicBezTo>
                    <a:pt x="23453" y="807598"/>
                    <a:pt x="15335" y="804236"/>
                    <a:pt x="9349" y="798250"/>
                  </a:cubicBezTo>
                  <a:cubicBezTo>
                    <a:pt x="3363" y="792264"/>
                    <a:pt x="0" y="784145"/>
                    <a:pt x="0" y="775680"/>
                  </a:cubicBezTo>
                  <a:lnTo>
                    <a:pt x="0" y="31919"/>
                  </a:lnTo>
                  <a:cubicBezTo>
                    <a:pt x="0" y="23453"/>
                    <a:pt x="3363" y="15335"/>
                    <a:pt x="9349" y="9349"/>
                  </a:cubicBezTo>
                  <a:cubicBezTo>
                    <a:pt x="15335" y="3363"/>
                    <a:pt x="23453" y="0"/>
                    <a:pt x="3191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03831" cy="86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54920" y="5719442"/>
            <a:ext cx="3638273" cy="2927049"/>
            <a:chOff x="0" y="0"/>
            <a:chExt cx="1003831" cy="8075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3831" cy="807598"/>
            </a:xfrm>
            <a:custGeom>
              <a:avLst/>
              <a:gdLst/>
              <a:ahLst/>
              <a:cxnLst/>
              <a:rect r="r" b="b" t="t" l="l"/>
              <a:pathLst>
                <a:path h="807598" w="1003831">
                  <a:moveTo>
                    <a:pt x="31919" y="0"/>
                  </a:moveTo>
                  <a:lnTo>
                    <a:pt x="971913" y="0"/>
                  </a:lnTo>
                  <a:cubicBezTo>
                    <a:pt x="980378" y="0"/>
                    <a:pt x="988497" y="3363"/>
                    <a:pt x="994483" y="9349"/>
                  </a:cubicBezTo>
                  <a:cubicBezTo>
                    <a:pt x="1000468" y="15335"/>
                    <a:pt x="1003831" y="23453"/>
                    <a:pt x="1003831" y="31919"/>
                  </a:cubicBezTo>
                  <a:lnTo>
                    <a:pt x="1003831" y="775680"/>
                  </a:lnTo>
                  <a:cubicBezTo>
                    <a:pt x="1003831" y="793308"/>
                    <a:pt x="989541" y="807598"/>
                    <a:pt x="971913" y="807598"/>
                  </a:cubicBezTo>
                  <a:lnTo>
                    <a:pt x="31919" y="807598"/>
                  </a:lnTo>
                  <a:cubicBezTo>
                    <a:pt x="23453" y="807598"/>
                    <a:pt x="15335" y="804236"/>
                    <a:pt x="9349" y="798250"/>
                  </a:cubicBezTo>
                  <a:cubicBezTo>
                    <a:pt x="3363" y="792264"/>
                    <a:pt x="0" y="784145"/>
                    <a:pt x="0" y="775680"/>
                  </a:cubicBezTo>
                  <a:lnTo>
                    <a:pt x="0" y="31919"/>
                  </a:lnTo>
                  <a:cubicBezTo>
                    <a:pt x="0" y="23453"/>
                    <a:pt x="3363" y="15335"/>
                    <a:pt x="9349" y="9349"/>
                  </a:cubicBezTo>
                  <a:cubicBezTo>
                    <a:pt x="15335" y="3363"/>
                    <a:pt x="23453" y="0"/>
                    <a:pt x="3191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03831" cy="864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04375" y="4794704"/>
            <a:ext cx="1849475" cy="184947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46719" y="4794704"/>
            <a:ext cx="1849475" cy="184947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17638" y="4794704"/>
            <a:ext cx="1849475" cy="184947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045600" y="4794704"/>
            <a:ext cx="1849475" cy="184947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699646" y="793045"/>
            <a:ext cx="4408929" cy="4408929"/>
          </a:xfrm>
          <a:custGeom>
            <a:avLst/>
            <a:gdLst/>
            <a:ahLst/>
            <a:cxnLst/>
            <a:rect r="r" b="b" t="t" l="l"/>
            <a:pathLst>
              <a:path h="4408929" w="4408929">
                <a:moveTo>
                  <a:pt x="0" y="0"/>
                </a:moveTo>
                <a:lnTo>
                  <a:pt x="4408930" y="0"/>
                </a:lnTo>
                <a:lnTo>
                  <a:pt x="4408930" y="4408929"/>
                </a:lnTo>
                <a:lnTo>
                  <a:pt x="0" y="4408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-1994662" y="851519"/>
            <a:ext cx="4291981" cy="4291981"/>
          </a:xfrm>
          <a:custGeom>
            <a:avLst/>
            <a:gdLst/>
            <a:ahLst/>
            <a:cxnLst/>
            <a:rect r="r" b="b" t="t" l="l"/>
            <a:pathLst>
              <a:path h="4291981" w="4291981">
                <a:moveTo>
                  <a:pt x="4291980" y="0"/>
                </a:moveTo>
                <a:lnTo>
                  <a:pt x="0" y="0"/>
                </a:lnTo>
                <a:lnTo>
                  <a:pt x="0" y="4291981"/>
                </a:lnTo>
                <a:lnTo>
                  <a:pt x="4291980" y="4291981"/>
                </a:lnTo>
                <a:lnTo>
                  <a:pt x="429198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420964" y="5133782"/>
            <a:ext cx="1241683" cy="1171321"/>
          </a:xfrm>
          <a:custGeom>
            <a:avLst/>
            <a:gdLst/>
            <a:ahLst/>
            <a:cxnLst/>
            <a:rect r="r" b="b" t="t" l="l"/>
            <a:pathLst>
              <a:path h="1171321" w="1241683">
                <a:moveTo>
                  <a:pt x="0" y="0"/>
                </a:moveTo>
                <a:lnTo>
                  <a:pt x="1241682" y="0"/>
                </a:lnTo>
                <a:lnTo>
                  <a:pt x="1241682" y="1171320"/>
                </a:lnTo>
                <a:lnTo>
                  <a:pt x="0" y="1171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466961" y="5154273"/>
            <a:ext cx="1150829" cy="1150829"/>
          </a:xfrm>
          <a:custGeom>
            <a:avLst/>
            <a:gdLst/>
            <a:ahLst/>
            <a:cxnLst/>
            <a:rect r="r" b="b" t="t" l="l"/>
            <a:pathLst>
              <a:path h="1150829" w="1150829">
                <a:moveTo>
                  <a:pt x="0" y="0"/>
                </a:moveTo>
                <a:lnTo>
                  <a:pt x="1150829" y="0"/>
                </a:lnTo>
                <a:lnTo>
                  <a:pt x="1150829" y="1150829"/>
                </a:lnTo>
                <a:lnTo>
                  <a:pt x="0" y="11508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294344" y="5182848"/>
            <a:ext cx="1711918" cy="1662700"/>
          </a:xfrm>
          <a:custGeom>
            <a:avLst/>
            <a:gdLst/>
            <a:ahLst/>
            <a:cxnLst/>
            <a:rect r="r" b="b" t="t" l="l"/>
            <a:pathLst>
              <a:path h="1662700" w="1711918">
                <a:moveTo>
                  <a:pt x="0" y="0"/>
                </a:moveTo>
                <a:lnTo>
                  <a:pt x="1711918" y="0"/>
                </a:lnTo>
                <a:lnTo>
                  <a:pt x="1711918" y="1662700"/>
                </a:lnTo>
                <a:lnTo>
                  <a:pt x="0" y="1662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2724256" y="5136789"/>
            <a:ext cx="1179375" cy="1185798"/>
          </a:xfrm>
          <a:custGeom>
            <a:avLst/>
            <a:gdLst/>
            <a:ahLst/>
            <a:cxnLst/>
            <a:rect r="r" b="b" t="t" l="l"/>
            <a:pathLst>
              <a:path h="1185798" w="1179375">
                <a:moveTo>
                  <a:pt x="1179375" y="0"/>
                </a:moveTo>
                <a:lnTo>
                  <a:pt x="0" y="0"/>
                </a:lnTo>
                <a:lnTo>
                  <a:pt x="0" y="1185798"/>
                </a:lnTo>
                <a:lnTo>
                  <a:pt x="1179375" y="1185798"/>
                </a:lnTo>
                <a:lnTo>
                  <a:pt x="117937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220760" y="1973884"/>
            <a:ext cx="11846480" cy="2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2"/>
              </a:lnSpc>
            </a:pPr>
            <a:r>
              <a:rPr lang="en-US" b="true" sz="9800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PROJECT SCOPE AND SCALE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96725" y="6935729"/>
            <a:ext cx="2448071" cy="98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Size:</a:t>
            </a:r>
          </a:p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2176 rows and 18 columns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513648" y="6935729"/>
            <a:ext cx="3273310" cy="67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Timeline:</a:t>
            </a:r>
          </a:p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2024-2026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32020" y="6935729"/>
            <a:ext cx="2820710" cy="67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Source:</a:t>
            </a:r>
          </a:p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Kaggle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63702" y="6859003"/>
            <a:ext cx="2820710" cy="164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Scope:</a:t>
            </a:r>
          </a:p>
          <a:p>
            <a:pPr algn="ctr">
              <a:lnSpc>
                <a:spcPts val="2577"/>
              </a:lnSpc>
            </a:pPr>
            <a:r>
              <a:rPr lang="en-US" sz="2577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14 dimensions covering product specs, pricing and logistics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53017" y="-1815428"/>
            <a:ext cx="5688255" cy="5688255"/>
          </a:xfrm>
          <a:custGeom>
            <a:avLst/>
            <a:gdLst/>
            <a:ahLst/>
            <a:cxnLst/>
            <a:rect r="r" b="b" t="t" l="l"/>
            <a:pathLst>
              <a:path h="5688255" w="5688255">
                <a:moveTo>
                  <a:pt x="0" y="0"/>
                </a:moveTo>
                <a:lnTo>
                  <a:pt x="5688255" y="0"/>
                </a:lnTo>
                <a:lnTo>
                  <a:pt x="5688255" y="5688256"/>
                </a:lnTo>
                <a:lnTo>
                  <a:pt x="0" y="5688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5670" y="6718153"/>
            <a:ext cx="307876" cy="307876"/>
            <a:chOff x="0" y="0"/>
            <a:chExt cx="406400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75670" y="1861859"/>
            <a:ext cx="12918289" cy="2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9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BRAND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09013" y="4980568"/>
            <a:ext cx="9598460" cy="40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821" b="true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Formula: ROI = (Net Profit / Total Investment) × 100%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5670" y="4851107"/>
            <a:ext cx="3793720" cy="71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5057" b="true">
                <a:solidFill>
                  <a:srgbClr val="1E1E1E"/>
                </a:solidFill>
                <a:latin typeface="Poppins Bold"/>
                <a:ea typeface="Poppins Bold"/>
                <a:cs typeface="Poppins Bold"/>
                <a:sym typeface="Poppins Bold"/>
              </a:rPr>
              <a:t>Analyzed: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96930" y="6627471"/>
            <a:ext cx="5134163" cy="99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3729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Zara recieved highest No. of Orders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5670" y="8063971"/>
            <a:ext cx="307876" cy="307876"/>
            <a:chOff x="0" y="0"/>
            <a:chExt cx="4064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96930" y="7846953"/>
            <a:ext cx="5134163" cy="99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3729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Zara has the Best Customer Ratings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17041" y="6712080"/>
            <a:ext cx="307876" cy="307876"/>
            <a:chOff x="0" y="0"/>
            <a:chExt cx="4064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743096" y="6621398"/>
            <a:ext cx="5850864" cy="99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3729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H&amp;M is the most Profitable Brand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117041" y="8063971"/>
            <a:ext cx="307876" cy="307876"/>
            <a:chOff x="0" y="0"/>
            <a:chExt cx="4064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743096" y="7846953"/>
            <a:ext cx="5761547" cy="145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3729">
                <a:solidFill>
                  <a:srgbClr val="8B0202"/>
                </a:solidFill>
                <a:latin typeface="Poppins"/>
                <a:ea typeface="Poppins"/>
                <a:cs typeface="Poppins"/>
                <a:sym typeface="Poppins"/>
              </a:rPr>
              <a:t>GAP offers higher avg Markdown% compared to other Brands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675670" y="4380404"/>
            <a:ext cx="3746423" cy="0"/>
          </a:xfrm>
          <a:prstGeom prst="line">
            <a:avLst/>
          </a:prstGeom>
          <a:ln cap="flat" w="19050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5393682" y="7250125"/>
            <a:ext cx="1511109" cy="1511109"/>
          </a:xfrm>
          <a:custGeom>
            <a:avLst/>
            <a:gdLst/>
            <a:ahLst/>
            <a:cxnLst/>
            <a:rect r="r" b="b" t="t" l="l"/>
            <a:pathLst>
              <a:path h="1511109" w="1511109">
                <a:moveTo>
                  <a:pt x="0" y="0"/>
                </a:moveTo>
                <a:lnTo>
                  <a:pt x="1511109" y="0"/>
                </a:lnTo>
                <a:lnTo>
                  <a:pt x="1511109" y="1511109"/>
                </a:lnTo>
                <a:lnTo>
                  <a:pt x="0" y="1511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4787" y="1861859"/>
            <a:ext cx="8874914" cy="2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9800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CATEGORY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37807" y="4722860"/>
            <a:ext cx="19894246" cy="6178811"/>
            <a:chOff x="0" y="0"/>
            <a:chExt cx="5488996" cy="1704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8996" cy="1704788"/>
            </a:xfrm>
            <a:custGeom>
              <a:avLst/>
              <a:gdLst/>
              <a:ahLst/>
              <a:cxnLst/>
              <a:rect r="r" b="b" t="t" l="l"/>
              <a:pathLst>
                <a:path h="1704788" w="5488996">
                  <a:moveTo>
                    <a:pt x="20236" y="0"/>
                  </a:moveTo>
                  <a:lnTo>
                    <a:pt x="5468760" y="0"/>
                  </a:lnTo>
                  <a:cubicBezTo>
                    <a:pt x="5474127" y="0"/>
                    <a:pt x="5479274" y="2132"/>
                    <a:pt x="5483069" y="5927"/>
                  </a:cubicBezTo>
                  <a:cubicBezTo>
                    <a:pt x="5486864" y="9722"/>
                    <a:pt x="5488996" y="14869"/>
                    <a:pt x="5488996" y="20236"/>
                  </a:cubicBezTo>
                  <a:lnTo>
                    <a:pt x="5488996" y="1684552"/>
                  </a:lnTo>
                  <a:cubicBezTo>
                    <a:pt x="5488996" y="1695728"/>
                    <a:pt x="5479936" y="1704788"/>
                    <a:pt x="5468760" y="1704788"/>
                  </a:cubicBezTo>
                  <a:lnTo>
                    <a:pt x="20236" y="1704788"/>
                  </a:lnTo>
                  <a:cubicBezTo>
                    <a:pt x="9060" y="1704788"/>
                    <a:pt x="0" y="1695728"/>
                    <a:pt x="0" y="1684552"/>
                  </a:cubicBezTo>
                  <a:lnTo>
                    <a:pt x="0" y="20236"/>
                  </a:lnTo>
                  <a:cubicBezTo>
                    <a:pt x="0" y="9060"/>
                    <a:pt x="9060" y="0"/>
                    <a:pt x="20236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88996" cy="17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966427" y="1915442"/>
            <a:ext cx="7292873" cy="7059966"/>
          </a:xfrm>
          <a:custGeom>
            <a:avLst/>
            <a:gdLst/>
            <a:ahLst/>
            <a:cxnLst/>
            <a:rect r="r" b="b" t="t" l="l"/>
            <a:pathLst>
              <a:path h="7059966" w="7292873">
                <a:moveTo>
                  <a:pt x="0" y="0"/>
                </a:moveTo>
                <a:lnTo>
                  <a:pt x="7292873" y="0"/>
                </a:lnTo>
                <a:lnTo>
                  <a:pt x="7292873" y="7059966"/>
                </a:lnTo>
                <a:lnTo>
                  <a:pt x="0" y="7059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76523" y="2786636"/>
            <a:ext cx="5872682" cy="6188772"/>
            <a:chOff x="0" y="0"/>
            <a:chExt cx="812800" cy="8565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56548"/>
            </a:xfrm>
            <a:custGeom>
              <a:avLst/>
              <a:gdLst/>
              <a:ahLst/>
              <a:cxnLst/>
              <a:rect r="r" b="b" t="t" l="l"/>
              <a:pathLst>
                <a:path h="856548" w="812800">
                  <a:moveTo>
                    <a:pt x="406400" y="0"/>
                  </a:moveTo>
                  <a:cubicBezTo>
                    <a:pt x="181951" y="0"/>
                    <a:pt x="0" y="191745"/>
                    <a:pt x="0" y="428274"/>
                  </a:cubicBezTo>
                  <a:cubicBezTo>
                    <a:pt x="0" y="664803"/>
                    <a:pt x="181951" y="856548"/>
                    <a:pt x="406400" y="856548"/>
                  </a:cubicBezTo>
                  <a:cubicBezTo>
                    <a:pt x="630849" y="856548"/>
                    <a:pt x="812800" y="664803"/>
                    <a:pt x="812800" y="428274"/>
                  </a:cubicBezTo>
                  <a:cubicBezTo>
                    <a:pt x="812800" y="191745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7843" t="0" r="-30230" b="0"/>
              </a:stretch>
            </a:blipFill>
            <a:ln w="152400" cap="sq">
              <a:solidFill>
                <a:srgbClr val="FAFAFA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7678" y="5627801"/>
            <a:ext cx="388468" cy="388468"/>
            <a:chOff x="0" y="0"/>
            <a:chExt cx="4064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46998" y="5556307"/>
            <a:ext cx="7665103" cy="39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7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Accessories are the most ordered category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47678" y="6565966"/>
            <a:ext cx="388468" cy="388468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7678" y="7497359"/>
            <a:ext cx="388468" cy="388468"/>
            <a:chOff x="0" y="0"/>
            <a:chExt cx="4064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069427" y="1528484"/>
            <a:ext cx="1189873" cy="1189873"/>
          </a:xfrm>
          <a:custGeom>
            <a:avLst/>
            <a:gdLst/>
            <a:ahLst/>
            <a:cxnLst/>
            <a:rect r="r" b="b" t="t" l="l"/>
            <a:pathLst>
              <a:path h="1189873" w="1189873">
                <a:moveTo>
                  <a:pt x="0" y="0"/>
                </a:moveTo>
                <a:lnTo>
                  <a:pt x="1189873" y="0"/>
                </a:lnTo>
                <a:lnTo>
                  <a:pt x="1189873" y="1189873"/>
                </a:lnTo>
                <a:lnTo>
                  <a:pt x="0" y="11898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477375" y="8381779"/>
            <a:ext cx="991851" cy="991851"/>
          </a:xfrm>
          <a:custGeom>
            <a:avLst/>
            <a:gdLst/>
            <a:ahLst/>
            <a:cxnLst/>
            <a:rect r="r" b="b" t="t" l="l"/>
            <a:pathLst>
              <a:path h="991851" w="991851">
                <a:moveTo>
                  <a:pt x="0" y="0"/>
                </a:moveTo>
                <a:lnTo>
                  <a:pt x="991851" y="0"/>
                </a:lnTo>
                <a:lnTo>
                  <a:pt x="991851" y="991851"/>
                </a:lnTo>
                <a:lnTo>
                  <a:pt x="0" y="9918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81723" y="7453434"/>
            <a:ext cx="7395652" cy="73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7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Large Size and White Colour is the highest Return Product Spec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6998" y="6585016"/>
            <a:ext cx="7665103" cy="39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7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Shoes are the most returned category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9289" y="-1574656"/>
            <a:ext cx="7105163" cy="7380541"/>
            <a:chOff x="0" y="0"/>
            <a:chExt cx="1960377" cy="2036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0376" cy="2036356"/>
            </a:xfrm>
            <a:custGeom>
              <a:avLst/>
              <a:gdLst/>
              <a:ahLst/>
              <a:cxnLst/>
              <a:rect r="r" b="b" t="t" l="l"/>
              <a:pathLst>
                <a:path h="2036356" w="1960376">
                  <a:moveTo>
                    <a:pt x="56660" y="0"/>
                  </a:moveTo>
                  <a:lnTo>
                    <a:pt x="1903716" y="0"/>
                  </a:lnTo>
                  <a:cubicBezTo>
                    <a:pt x="1935009" y="0"/>
                    <a:pt x="1960376" y="25368"/>
                    <a:pt x="1960376" y="56660"/>
                  </a:cubicBezTo>
                  <a:lnTo>
                    <a:pt x="1960376" y="1979696"/>
                  </a:lnTo>
                  <a:cubicBezTo>
                    <a:pt x="1960376" y="1994723"/>
                    <a:pt x="1954407" y="2009135"/>
                    <a:pt x="1943781" y="2019761"/>
                  </a:cubicBezTo>
                  <a:cubicBezTo>
                    <a:pt x="1933155" y="2030386"/>
                    <a:pt x="1918744" y="2036356"/>
                    <a:pt x="1903716" y="2036356"/>
                  </a:cubicBezTo>
                  <a:lnTo>
                    <a:pt x="56660" y="2036356"/>
                  </a:lnTo>
                  <a:cubicBezTo>
                    <a:pt x="41633" y="2036356"/>
                    <a:pt x="27221" y="2030386"/>
                    <a:pt x="16595" y="2019761"/>
                  </a:cubicBezTo>
                  <a:cubicBezTo>
                    <a:pt x="5970" y="2009135"/>
                    <a:pt x="0" y="1994723"/>
                    <a:pt x="0" y="1979696"/>
                  </a:cubicBezTo>
                  <a:lnTo>
                    <a:pt x="0" y="56660"/>
                  </a:lnTo>
                  <a:cubicBezTo>
                    <a:pt x="0" y="41633"/>
                    <a:pt x="5970" y="27221"/>
                    <a:pt x="16595" y="16595"/>
                  </a:cubicBezTo>
                  <a:cubicBezTo>
                    <a:pt x="27221" y="5970"/>
                    <a:pt x="41633" y="0"/>
                    <a:pt x="56660" y="0"/>
                  </a:cubicBezTo>
                  <a:close/>
                </a:path>
              </a:pathLst>
            </a:custGeom>
            <a:solidFill>
              <a:srgbClr val="540C0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60377" cy="2093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0294" y="1436818"/>
            <a:ext cx="7695725" cy="7449953"/>
          </a:xfrm>
          <a:custGeom>
            <a:avLst/>
            <a:gdLst/>
            <a:ahLst/>
            <a:cxnLst/>
            <a:rect r="r" b="b" t="t" l="l"/>
            <a:pathLst>
              <a:path h="7449953" w="7695725">
                <a:moveTo>
                  <a:pt x="0" y="0"/>
                </a:moveTo>
                <a:lnTo>
                  <a:pt x="7695725" y="0"/>
                </a:lnTo>
                <a:lnTo>
                  <a:pt x="7695725" y="7449954"/>
                </a:lnTo>
                <a:lnTo>
                  <a:pt x="0" y="744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16257" y="2358305"/>
            <a:ext cx="6243800" cy="6454662"/>
            <a:chOff x="0" y="0"/>
            <a:chExt cx="812800" cy="840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40249"/>
            </a:xfrm>
            <a:custGeom>
              <a:avLst/>
              <a:gdLst/>
              <a:ahLst/>
              <a:cxnLst/>
              <a:rect r="r" b="b" t="t" l="l"/>
              <a:pathLst>
                <a:path h="840249" w="812800">
                  <a:moveTo>
                    <a:pt x="406400" y="0"/>
                  </a:moveTo>
                  <a:cubicBezTo>
                    <a:pt x="181951" y="0"/>
                    <a:pt x="0" y="188096"/>
                    <a:pt x="0" y="420125"/>
                  </a:cubicBezTo>
                  <a:cubicBezTo>
                    <a:pt x="0" y="652153"/>
                    <a:pt x="181951" y="840249"/>
                    <a:pt x="406400" y="840249"/>
                  </a:cubicBezTo>
                  <a:cubicBezTo>
                    <a:pt x="630849" y="840249"/>
                    <a:pt x="812800" y="652153"/>
                    <a:pt x="812800" y="420125"/>
                  </a:cubicBezTo>
                  <a:cubicBezTo>
                    <a:pt x="812800" y="188096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457" t="0" r="-25457" b="0"/>
              </a:stretch>
            </a:blipFill>
            <a:ln w="142875" cap="sq">
              <a:solidFill>
                <a:srgbClr val="FAFAF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912110" y="4380199"/>
            <a:ext cx="6960278" cy="86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3254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Highest Avg Markdown% is observed in the summer season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5936" y="1617567"/>
            <a:ext cx="7118431" cy="21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98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DISCOUNTINSIGHTS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140869" y="4640460"/>
            <a:ext cx="415053" cy="415053"/>
            <a:chOff x="0" y="0"/>
            <a:chExt cx="4064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40869" y="5831377"/>
            <a:ext cx="415053" cy="415053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161041" y="-1973164"/>
            <a:ext cx="5732071" cy="5732071"/>
          </a:xfrm>
          <a:custGeom>
            <a:avLst/>
            <a:gdLst/>
            <a:ahLst/>
            <a:cxnLst/>
            <a:rect r="r" b="b" t="t" l="l"/>
            <a:pathLst>
              <a:path h="5732071" w="5732071">
                <a:moveTo>
                  <a:pt x="0" y="0"/>
                </a:moveTo>
                <a:lnTo>
                  <a:pt x="5732071" y="0"/>
                </a:lnTo>
                <a:lnTo>
                  <a:pt x="5732071" y="5732071"/>
                </a:lnTo>
                <a:lnTo>
                  <a:pt x="0" y="573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265215" y="8550212"/>
            <a:ext cx="5065211" cy="5065211"/>
          </a:xfrm>
          <a:custGeom>
            <a:avLst/>
            <a:gdLst/>
            <a:ahLst/>
            <a:cxnLst/>
            <a:rect r="r" b="b" t="t" l="l"/>
            <a:pathLst>
              <a:path h="5065211" w="5065211">
                <a:moveTo>
                  <a:pt x="0" y="0"/>
                </a:moveTo>
                <a:lnTo>
                  <a:pt x="5065211" y="0"/>
                </a:lnTo>
                <a:lnTo>
                  <a:pt x="5065211" y="5065211"/>
                </a:lnTo>
                <a:lnTo>
                  <a:pt x="0" y="5065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912110" y="5623736"/>
            <a:ext cx="5486082" cy="292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Higher Discount does not mean drive More Orders:</a:t>
            </a:r>
          </a:p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PGAPDR - 16.21% - 28 and</a:t>
            </a:r>
          </a:p>
          <a:p>
            <a:pPr algn="l">
              <a:lnSpc>
                <a:spcPts val="3263"/>
              </a:lnSpc>
            </a:pPr>
            <a:r>
              <a:rPr lang="en-US" sz="326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PZARBO - 12.58% - 69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93088" y="-244759"/>
            <a:ext cx="10801350" cy="108013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0202">
                <a:alpha val="3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89298" y="3638154"/>
            <a:ext cx="7787762" cy="943315"/>
            <a:chOff x="0" y="0"/>
            <a:chExt cx="2156146" cy="261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6146" cy="261169"/>
            </a:xfrm>
            <a:custGeom>
              <a:avLst/>
              <a:gdLst/>
              <a:ahLst/>
              <a:cxnLst/>
              <a:rect r="r" b="b" t="t" l="l"/>
              <a:pathLst>
                <a:path h="261169" w="2156146">
                  <a:moveTo>
                    <a:pt x="40759" y="0"/>
                  </a:moveTo>
                  <a:lnTo>
                    <a:pt x="2115387" y="0"/>
                  </a:lnTo>
                  <a:cubicBezTo>
                    <a:pt x="2137898" y="0"/>
                    <a:pt x="2156146" y="18248"/>
                    <a:pt x="2156146" y="40759"/>
                  </a:cubicBezTo>
                  <a:lnTo>
                    <a:pt x="2156146" y="220411"/>
                  </a:lnTo>
                  <a:cubicBezTo>
                    <a:pt x="2156146" y="231220"/>
                    <a:pt x="2151852" y="241588"/>
                    <a:pt x="2144208" y="249231"/>
                  </a:cubicBezTo>
                  <a:cubicBezTo>
                    <a:pt x="2136564" y="256875"/>
                    <a:pt x="2126197" y="261169"/>
                    <a:pt x="2115387" y="261169"/>
                  </a:cubicBezTo>
                  <a:lnTo>
                    <a:pt x="40759" y="261169"/>
                  </a:lnTo>
                  <a:cubicBezTo>
                    <a:pt x="29949" y="261169"/>
                    <a:pt x="19582" y="256875"/>
                    <a:pt x="11938" y="249231"/>
                  </a:cubicBezTo>
                  <a:cubicBezTo>
                    <a:pt x="4294" y="241588"/>
                    <a:pt x="0" y="231220"/>
                    <a:pt x="0" y="220411"/>
                  </a:cubicBezTo>
                  <a:lnTo>
                    <a:pt x="0" y="40759"/>
                  </a:lnTo>
                  <a:cubicBezTo>
                    <a:pt x="0" y="29949"/>
                    <a:pt x="4294" y="19582"/>
                    <a:pt x="11938" y="11938"/>
                  </a:cubicBezTo>
                  <a:cubicBezTo>
                    <a:pt x="19582" y="4294"/>
                    <a:pt x="29949" y="0"/>
                    <a:pt x="4075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56146" cy="318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3489" y="3569153"/>
            <a:ext cx="1081317" cy="1081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89298" y="4823885"/>
            <a:ext cx="7787762" cy="1112234"/>
            <a:chOff x="0" y="0"/>
            <a:chExt cx="2156146" cy="3079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6146" cy="307937"/>
            </a:xfrm>
            <a:custGeom>
              <a:avLst/>
              <a:gdLst/>
              <a:ahLst/>
              <a:cxnLst/>
              <a:rect r="r" b="b" t="t" l="l"/>
              <a:pathLst>
                <a:path h="307937" w="2156146">
                  <a:moveTo>
                    <a:pt x="40759" y="0"/>
                  </a:moveTo>
                  <a:lnTo>
                    <a:pt x="2115387" y="0"/>
                  </a:lnTo>
                  <a:cubicBezTo>
                    <a:pt x="2137898" y="0"/>
                    <a:pt x="2156146" y="18248"/>
                    <a:pt x="2156146" y="40759"/>
                  </a:cubicBezTo>
                  <a:lnTo>
                    <a:pt x="2156146" y="267178"/>
                  </a:lnTo>
                  <a:cubicBezTo>
                    <a:pt x="2156146" y="277988"/>
                    <a:pt x="2151852" y="288355"/>
                    <a:pt x="2144208" y="295999"/>
                  </a:cubicBezTo>
                  <a:cubicBezTo>
                    <a:pt x="2136564" y="303643"/>
                    <a:pt x="2126197" y="307937"/>
                    <a:pt x="2115387" y="307937"/>
                  </a:cubicBezTo>
                  <a:lnTo>
                    <a:pt x="40759" y="307937"/>
                  </a:lnTo>
                  <a:cubicBezTo>
                    <a:pt x="29949" y="307937"/>
                    <a:pt x="19582" y="303643"/>
                    <a:pt x="11938" y="295999"/>
                  </a:cubicBezTo>
                  <a:cubicBezTo>
                    <a:pt x="4294" y="288355"/>
                    <a:pt x="0" y="277988"/>
                    <a:pt x="0" y="267178"/>
                  </a:cubicBezTo>
                  <a:lnTo>
                    <a:pt x="0" y="40759"/>
                  </a:lnTo>
                  <a:cubicBezTo>
                    <a:pt x="0" y="29949"/>
                    <a:pt x="4294" y="19582"/>
                    <a:pt x="11938" y="11938"/>
                  </a:cubicBezTo>
                  <a:cubicBezTo>
                    <a:pt x="19582" y="4294"/>
                    <a:pt x="29949" y="0"/>
                    <a:pt x="4075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56146" cy="365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3489" y="4856639"/>
            <a:ext cx="1081317" cy="108131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58236" y="3923900"/>
            <a:ext cx="371824" cy="371824"/>
            <a:chOff x="0" y="0"/>
            <a:chExt cx="4064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58236" y="5211386"/>
            <a:ext cx="371824" cy="371824"/>
            <a:chOff x="0" y="0"/>
            <a:chExt cx="406400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89298" y="6144125"/>
            <a:ext cx="7787762" cy="1137923"/>
            <a:chOff x="0" y="0"/>
            <a:chExt cx="2156146" cy="3150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6146" cy="315049"/>
            </a:xfrm>
            <a:custGeom>
              <a:avLst/>
              <a:gdLst/>
              <a:ahLst/>
              <a:cxnLst/>
              <a:rect r="r" b="b" t="t" l="l"/>
              <a:pathLst>
                <a:path h="315049" w="2156146">
                  <a:moveTo>
                    <a:pt x="40759" y="0"/>
                  </a:moveTo>
                  <a:lnTo>
                    <a:pt x="2115387" y="0"/>
                  </a:lnTo>
                  <a:cubicBezTo>
                    <a:pt x="2137898" y="0"/>
                    <a:pt x="2156146" y="18248"/>
                    <a:pt x="2156146" y="40759"/>
                  </a:cubicBezTo>
                  <a:lnTo>
                    <a:pt x="2156146" y="274291"/>
                  </a:lnTo>
                  <a:cubicBezTo>
                    <a:pt x="2156146" y="285100"/>
                    <a:pt x="2151852" y="295468"/>
                    <a:pt x="2144208" y="303111"/>
                  </a:cubicBezTo>
                  <a:cubicBezTo>
                    <a:pt x="2136564" y="310755"/>
                    <a:pt x="2126197" y="315049"/>
                    <a:pt x="2115387" y="315049"/>
                  </a:cubicBezTo>
                  <a:lnTo>
                    <a:pt x="40759" y="315049"/>
                  </a:lnTo>
                  <a:cubicBezTo>
                    <a:pt x="29949" y="315049"/>
                    <a:pt x="19582" y="310755"/>
                    <a:pt x="11938" y="303111"/>
                  </a:cubicBezTo>
                  <a:cubicBezTo>
                    <a:pt x="4294" y="295468"/>
                    <a:pt x="0" y="285100"/>
                    <a:pt x="0" y="274291"/>
                  </a:cubicBezTo>
                  <a:lnTo>
                    <a:pt x="0" y="40759"/>
                  </a:lnTo>
                  <a:cubicBezTo>
                    <a:pt x="0" y="29949"/>
                    <a:pt x="4294" y="19582"/>
                    <a:pt x="11938" y="11938"/>
                  </a:cubicBezTo>
                  <a:cubicBezTo>
                    <a:pt x="19582" y="4294"/>
                    <a:pt x="29949" y="0"/>
                    <a:pt x="4075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156146" cy="372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03489" y="6172428"/>
            <a:ext cx="1081317" cy="108131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58236" y="6527174"/>
            <a:ext cx="371824" cy="371824"/>
            <a:chOff x="0" y="0"/>
            <a:chExt cx="406400" cy="406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89941" y="761865"/>
            <a:ext cx="13003147" cy="89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7600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FUTURE ENHANCEMENTS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89941" y="2556811"/>
            <a:ext cx="4802230" cy="5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64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Recommendations: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45762" y="6332819"/>
            <a:ext cx="6081654" cy="78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92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Detailed/Compare Size Chart and Fabric Feel Info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201444" y="2141953"/>
            <a:ext cx="6962606" cy="6740247"/>
          </a:xfrm>
          <a:custGeom>
            <a:avLst/>
            <a:gdLst/>
            <a:ahLst/>
            <a:cxnLst/>
            <a:rect r="r" b="b" t="t" l="l"/>
            <a:pathLst>
              <a:path h="6740247" w="6962606">
                <a:moveTo>
                  <a:pt x="0" y="0"/>
                </a:moveTo>
                <a:lnTo>
                  <a:pt x="6962606" y="0"/>
                </a:lnTo>
                <a:lnTo>
                  <a:pt x="6962606" y="6740247"/>
                </a:lnTo>
                <a:lnTo>
                  <a:pt x="0" y="6740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0858249" y="2975656"/>
            <a:ext cx="5648996" cy="5839771"/>
            <a:chOff x="0" y="0"/>
            <a:chExt cx="812800" cy="8402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40249"/>
            </a:xfrm>
            <a:custGeom>
              <a:avLst/>
              <a:gdLst/>
              <a:ahLst/>
              <a:cxnLst/>
              <a:rect r="r" b="b" t="t" l="l"/>
              <a:pathLst>
                <a:path h="840249" w="812800">
                  <a:moveTo>
                    <a:pt x="406400" y="0"/>
                  </a:moveTo>
                  <a:cubicBezTo>
                    <a:pt x="181951" y="0"/>
                    <a:pt x="0" y="188096"/>
                    <a:pt x="0" y="420125"/>
                  </a:cubicBezTo>
                  <a:cubicBezTo>
                    <a:pt x="0" y="652153"/>
                    <a:pt x="181951" y="840249"/>
                    <a:pt x="406400" y="840249"/>
                  </a:cubicBezTo>
                  <a:cubicBezTo>
                    <a:pt x="630849" y="840249"/>
                    <a:pt x="812800" y="652153"/>
                    <a:pt x="812800" y="420125"/>
                  </a:cubicBezTo>
                  <a:cubicBezTo>
                    <a:pt x="812800" y="188096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0326" t="0" r="-34598" b="0"/>
              </a:stretch>
            </a:blipFill>
            <a:ln w="142875" cap="sq">
              <a:solidFill>
                <a:srgbClr val="540C0C"/>
              </a:solidFill>
              <a:prstDash val="solid"/>
              <a:miter/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9986528" y="2104095"/>
            <a:ext cx="871561" cy="871561"/>
          </a:xfrm>
          <a:custGeom>
            <a:avLst/>
            <a:gdLst/>
            <a:ahLst/>
            <a:cxnLst/>
            <a:rect r="r" b="b" t="t" l="l"/>
            <a:pathLst>
              <a:path h="871561" w="871561">
                <a:moveTo>
                  <a:pt x="0" y="0"/>
                </a:moveTo>
                <a:lnTo>
                  <a:pt x="871562" y="0"/>
                </a:lnTo>
                <a:lnTo>
                  <a:pt x="871562" y="871561"/>
                </a:lnTo>
                <a:lnTo>
                  <a:pt x="0" y="871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789298" y="7484399"/>
            <a:ext cx="7787762" cy="943315"/>
            <a:chOff x="0" y="0"/>
            <a:chExt cx="2156146" cy="26116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56146" cy="261169"/>
            </a:xfrm>
            <a:custGeom>
              <a:avLst/>
              <a:gdLst/>
              <a:ahLst/>
              <a:cxnLst/>
              <a:rect r="r" b="b" t="t" l="l"/>
              <a:pathLst>
                <a:path h="261169" w="2156146">
                  <a:moveTo>
                    <a:pt x="40759" y="0"/>
                  </a:moveTo>
                  <a:lnTo>
                    <a:pt x="2115387" y="0"/>
                  </a:lnTo>
                  <a:cubicBezTo>
                    <a:pt x="2137898" y="0"/>
                    <a:pt x="2156146" y="18248"/>
                    <a:pt x="2156146" y="40759"/>
                  </a:cubicBezTo>
                  <a:lnTo>
                    <a:pt x="2156146" y="220411"/>
                  </a:lnTo>
                  <a:cubicBezTo>
                    <a:pt x="2156146" y="231220"/>
                    <a:pt x="2151852" y="241588"/>
                    <a:pt x="2144208" y="249231"/>
                  </a:cubicBezTo>
                  <a:cubicBezTo>
                    <a:pt x="2136564" y="256875"/>
                    <a:pt x="2126197" y="261169"/>
                    <a:pt x="2115387" y="261169"/>
                  </a:cubicBezTo>
                  <a:lnTo>
                    <a:pt x="40759" y="261169"/>
                  </a:lnTo>
                  <a:cubicBezTo>
                    <a:pt x="29949" y="261169"/>
                    <a:pt x="19582" y="256875"/>
                    <a:pt x="11938" y="249231"/>
                  </a:cubicBezTo>
                  <a:cubicBezTo>
                    <a:pt x="4294" y="241588"/>
                    <a:pt x="0" y="231220"/>
                    <a:pt x="0" y="220411"/>
                  </a:cubicBezTo>
                  <a:lnTo>
                    <a:pt x="0" y="40759"/>
                  </a:lnTo>
                  <a:cubicBezTo>
                    <a:pt x="0" y="29949"/>
                    <a:pt x="4294" y="19582"/>
                    <a:pt x="11938" y="11938"/>
                  </a:cubicBezTo>
                  <a:cubicBezTo>
                    <a:pt x="19582" y="4294"/>
                    <a:pt x="29949" y="0"/>
                    <a:pt x="4075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156146" cy="318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03489" y="7415398"/>
            <a:ext cx="1081317" cy="1081317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89298" y="8670130"/>
            <a:ext cx="7787762" cy="1112234"/>
            <a:chOff x="0" y="0"/>
            <a:chExt cx="2156146" cy="3079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56146" cy="307937"/>
            </a:xfrm>
            <a:custGeom>
              <a:avLst/>
              <a:gdLst/>
              <a:ahLst/>
              <a:cxnLst/>
              <a:rect r="r" b="b" t="t" l="l"/>
              <a:pathLst>
                <a:path h="307937" w="2156146">
                  <a:moveTo>
                    <a:pt x="40759" y="0"/>
                  </a:moveTo>
                  <a:lnTo>
                    <a:pt x="2115387" y="0"/>
                  </a:lnTo>
                  <a:cubicBezTo>
                    <a:pt x="2137898" y="0"/>
                    <a:pt x="2156146" y="18248"/>
                    <a:pt x="2156146" y="40759"/>
                  </a:cubicBezTo>
                  <a:lnTo>
                    <a:pt x="2156146" y="267178"/>
                  </a:lnTo>
                  <a:cubicBezTo>
                    <a:pt x="2156146" y="277988"/>
                    <a:pt x="2151852" y="288355"/>
                    <a:pt x="2144208" y="295999"/>
                  </a:cubicBezTo>
                  <a:cubicBezTo>
                    <a:pt x="2136564" y="303643"/>
                    <a:pt x="2126197" y="307937"/>
                    <a:pt x="2115387" y="307937"/>
                  </a:cubicBezTo>
                  <a:lnTo>
                    <a:pt x="40759" y="307937"/>
                  </a:lnTo>
                  <a:cubicBezTo>
                    <a:pt x="29949" y="307937"/>
                    <a:pt x="19582" y="303643"/>
                    <a:pt x="11938" y="295999"/>
                  </a:cubicBezTo>
                  <a:cubicBezTo>
                    <a:pt x="4294" y="288355"/>
                    <a:pt x="0" y="277988"/>
                    <a:pt x="0" y="267178"/>
                  </a:cubicBezTo>
                  <a:lnTo>
                    <a:pt x="0" y="40759"/>
                  </a:lnTo>
                  <a:cubicBezTo>
                    <a:pt x="0" y="29949"/>
                    <a:pt x="4294" y="19582"/>
                    <a:pt x="11938" y="11938"/>
                  </a:cubicBezTo>
                  <a:cubicBezTo>
                    <a:pt x="19582" y="4294"/>
                    <a:pt x="29949" y="0"/>
                    <a:pt x="4075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2156146" cy="365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03489" y="8702884"/>
            <a:ext cx="1081317" cy="1081317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945762" y="7763060"/>
            <a:ext cx="5474834" cy="41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92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Styling tips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45762" y="9046839"/>
            <a:ext cx="6622511" cy="41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92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Return Fees, Drop-off Option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45762" y="3916815"/>
            <a:ext cx="5474834" cy="41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92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Regular Quality Checks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958236" y="7770145"/>
            <a:ext cx="371824" cy="371824"/>
            <a:chOff x="0" y="0"/>
            <a:chExt cx="406400" cy="406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58236" y="9067156"/>
            <a:ext cx="371824" cy="371824"/>
            <a:chOff x="0" y="0"/>
            <a:chExt cx="406400" cy="406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89298" y="2437324"/>
            <a:ext cx="7787762" cy="943315"/>
            <a:chOff x="0" y="0"/>
            <a:chExt cx="2156146" cy="26116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56146" cy="261169"/>
            </a:xfrm>
            <a:custGeom>
              <a:avLst/>
              <a:gdLst/>
              <a:ahLst/>
              <a:cxnLst/>
              <a:rect r="r" b="b" t="t" l="l"/>
              <a:pathLst>
                <a:path h="261169" w="2156146">
                  <a:moveTo>
                    <a:pt x="40759" y="0"/>
                  </a:moveTo>
                  <a:lnTo>
                    <a:pt x="2115387" y="0"/>
                  </a:lnTo>
                  <a:cubicBezTo>
                    <a:pt x="2137898" y="0"/>
                    <a:pt x="2156146" y="18248"/>
                    <a:pt x="2156146" y="40759"/>
                  </a:cubicBezTo>
                  <a:lnTo>
                    <a:pt x="2156146" y="220411"/>
                  </a:lnTo>
                  <a:cubicBezTo>
                    <a:pt x="2156146" y="231220"/>
                    <a:pt x="2151852" y="241588"/>
                    <a:pt x="2144208" y="249231"/>
                  </a:cubicBezTo>
                  <a:cubicBezTo>
                    <a:pt x="2136564" y="256875"/>
                    <a:pt x="2126197" y="261169"/>
                    <a:pt x="2115387" y="261169"/>
                  </a:cubicBezTo>
                  <a:lnTo>
                    <a:pt x="40759" y="261169"/>
                  </a:lnTo>
                  <a:cubicBezTo>
                    <a:pt x="29949" y="261169"/>
                    <a:pt x="19582" y="256875"/>
                    <a:pt x="11938" y="249231"/>
                  </a:cubicBezTo>
                  <a:cubicBezTo>
                    <a:pt x="4294" y="241588"/>
                    <a:pt x="0" y="231220"/>
                    <a:pt x="0" y="220411"/>
                  </a:cubicBezTo>
                  <a:lnTo>
                    <a:pt x="0" y="40759"/>
                  </a:lnTo>
                  <a:cubicBezTo>
                    <a:pt x="0" y="29949"/>
                    <a:pt x="4294" y="19582"/>
                    <a:pt x="11938" y="11938"/>
                  </a:cubicBezTo>
                  <a:cubicBezTo>
                    <a:pt x="19582" y="4294"/>
                    <a:pt x="29949" y="0"/>
                    <a:pt x="40759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2156146" cy="337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1E1E1E"/>
                  </a:solidFill>
                  <a:latin typeface="Poppins"/>
                  <a:ea typeface="Poppins"/>
                  <a:cs typeface="Poppins"/>
                  <a:sym typeface="Poppins"/>
                </a:rPr>
                <a:t>            A/B Testing On Markdown Levels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03489" y="2368322"/>
            <a:ext cx="1081317" cy="1081317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58236" y="2723069"/>
            <a:ext cx="371824" cy="371824"/>
            <a:chOff x="0" y="0"/>
            <a:chExt cx="406400" cy="406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177800" y="19050"/>
              <a:ext cx="1524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789941" y="1704595"/>
            <a:ext cx="4802230" cy="5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647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Recommendations: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945762" y="5204301"/>
            <a:ext cx="6622511" cy="41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923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Focus on High-returned segments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41087" y="1028700"/>
            <a:ext cx="14708150" cy="8229600"/>
            <a:chOff x="0" y="0"/>
            <a:chExt cx="4058107" cy="2270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58107" cy="2270619"/>
            </a:xfrm>
            <a:custGeom>
              <a:avLst/>
              <a:gdLst/>
              <a:ahLst/>
              <a:cxnLst/>
              <a:rect r="r" b="b" t="t" l="l"/>
              <a:pathLst>
                <a:path h="2270619" w="4058107">
                  <a:moveTo>
                    <a:pt x="43162" y="0"/>
                  </a:moveTo>
                  <a:lnTo>
                    <a:pt x="4014945" y="0"/>
                  </a:lnTo>
                  <a:cubicBezTo>
                    <a:pt x="4038783" y="0"/>
                    <a:pt x="4058107" y="19324"/>
                    <a:pt x="4058107" y="43162"/>
                  </a:cubicBezTo>
                  <a:lnTo>
                    <a:pt x="4058107" y="2227456"/>
                  </a:lnTo>
                  <a:cubicBezTo>
                    <a:pt x="4058107" y="2238904"/>
                    <a:pt x="4053560" y="2249882"/>
                    <a:pt x="4045465" y="2257977"/>
                  </a:cubicBezTo>
                  <a:cubicBezTo>
                    <a:pt x="4037371" y="2266071"/>
                    <a:pt x="4026392" y="2270619"/>
                    <a:pt x="4014945" y="2270619"/>
                  </a:cubicBezTo>
                  <a:lnTo>
                    <a:pt x="43162" y="2270619"/>
                  </a:lnTo>
                  <a:cubicBezTo>
                    <a:pt x="19324" y="2270619"/>
                    <a:pt x="0" y="2251294"/>
                    <a:pt x="0" y="2227456"/>
                  </a:cubicBezTo>
                  <a:lnTo>
                    <a:pt x="0" y="43162"/>
                  </a:lnTo>
                  <a:cubicBezTo>
                    <a:pt x="0" y="19324"/>
                    <a:pt x="19324" y="0"/>
                    <a:pt x="43162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058107" cy="232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16259" y="2952384"/>
            <a:ext cx="7593221" cy="360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7"/>
              </a:lnSpc>
            </a:pPr>
            <a:r>
              <a:rPr lang="en-US" sz="1609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</a:t>
            </a:r>
            <a:r>
              <a:rPr lang="en-US" sz="1609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16259" y="6846289"/>
            <a:ext cx="3113277" cy="45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328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16259" y="7427964"/>
            <a:ext cx="3810795" cy="45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3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Priyanka Kasera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0725" y="6818701"/>
            <a:ext cx="3113277" cy="45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328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40725" y="7400376"/>
            <a:ext cx="3355524" cy="45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3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March 25,2026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6700" y="1992467"/>
            <a:ext cx="6804242" cy="6586941"/>
          </a:xfrm>
          <a:custGeom>
            <a:avLst/>
            <a:gdLst/>
            <a:ahLst/>
            <a:cxnLst/>
            <a:rect r="r" b="b" t="t" l="l"/>
            <a:pathLst>
              <a:path h="6586941" w="6804242">
                <a:moveTo>
                  <a:pt x="0" y="0"/>
                </a:moveTo>
                <a:lnTo>
                  <a:pt x="6804242" y="0"/>
                </a:lnTo>
                <a:lnTo>
                  <a:pt x="6804242" y="6586941"/>
                </a:lnTo>
                <a:lnTo>
                  <a:pt x="0" y="658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99218" y="2805290"/>
            <a:ext cx="5479206" cy="5774118"/>
            <a:chOff x="0" y="0"/>
            <a:chExt cx="812800" cy="8565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56548"/>
            </a:xfrm>
            <a:custGeom>
              <a:avLst/>
              <a:gdLst/>
              <a:ahLst/>
              <a:cxnLst/>
              <a:rect r="r" b="b" t="t" l="l"/>
              <a:pathLst>
                <a:path h="856548" w="812800">
                  <a:moveTo>
                    <a:pt x="406400" y="0"/>
                  </a:moveTo>
                  <a:cubicBezTo>
                    <a:pt x="181951" y="0"/>
                    <a:pt x="0" y="191745"/>
                    <a:pt x="0" y="428274"/>
                  </a:cubicBezTo>
                  <a:cubicBezTo>
                    <a:pt x="0" y="664803"/>
                    <a:pt x="181951" y="856548"/>
                    <a:pt x="406400" y="856548"/>
                  </a:cubicBezTo>
                  <a:cubicBezTo>
                    <a:pt x="630849" y="856548"/>
                    <a:pt x="812800" y="664803"/>
                    <a:pt x="812800" y="428274"/>
                  </a:cubicBezTo>
                  <a:cubicBezTo>
                    <a:pt x="812800" y="191745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8073" b="0"/>
              </a:stretch>
            </a:blipFill>
            <a:ln w="152400" cap="sq">
              <a:solidFill>
                <a:srgbClr val="540C0C"/>
              </a:solidFill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1889687"/>
            <a:ext cx="1074607" cy="1074607"/>
          </a:xfrm>
          <a:custGeom>
            <a:avLst/>
            <a:gdLst/>
            <a:ahLst/>
            <a:cxnLst/>
            <a:rect r="r" b="b" t="t" l="l"/>
            <a:pathLst>
              <a:path h="1074607" w="1074607">
                <a:moveTo>
                  <a:pt x="0" y="0"/>
                </a:moveTo>
                <a:lnTo>
                  <a:pt x="1074607" y="0"/>
                </a:lnTo>
                <a:lnTo>
                  <a:pt x="1074607" y="1074607"/>
                </a:lnTo>
                <a:lnTo>
                  <a:pt x="0" y="1074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354002" y="2755302"/>
            <a:ext cx="5061270" cy="5061270"/>
          </a:xfrm>
          <a:custGeom>
            <a:avLst/>
            <a:gdLst/>
            <a:ahLst/>
            <a:cxnLst/>
            <a:rect r="r" b="b" t="t" l="l"/>
            <a:pathLst>
              <a:path h="5061270" w="5061270">
                <a:moveTo>
                  <a:pt x="0" y="0"/>
                </a:moveTo>
                <a:lnTo>
                  <a:pt x="5061270" y="0"/>
                </a:lnTo>
                <a:lnTo>
                  <a:pt x="5061270" y="5061270"/>
                </a:lnTo>
                <a:lnTo>
                  <a:pt x="0" y="50612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DAHE9hb-6g4</dc:identifier>
  <dcterms:modified xsi:type="dcterms:W3CDTF">2011-08-01T06:04:30Z</dcterms:modified>
  <cp:revision>1</cp:revision>
  <dc:title>The Infinite fitting Room</dc:title>
</cp:coreProperties>
</file>